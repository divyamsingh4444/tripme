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58" r:id="rId4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213669-B7E1-4F10-95B2-C2A6364EB9C7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3C3E0-ECB5-4164-A673-A3D0ED961BA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5489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266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Segoe UI"/>
              </a:rPr>
              <a:t>Trip</a:t>
            </a:r>
            <a:r>
              <a:rPr sz="6600" b="1" i="0">
                <a:solidFill>
                  <a:srgbClr val="FFB52E"/>
                </a:solidFill>
                <a:latin typeface="Segoe UI"/>
              </a:rPr>
              <a:t>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514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EEF4EF"/>
                </a:solidFill>
                <a:latin typeface="Segoe UI"/>
              </a:rPr>
              <a:t>One mood. One budget. One complete trip.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246120"/>
            <a:ext cx="8412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9DB3AC"/>
                </a:solidFill>
                <a:latin typeface="Segoe UI"/>
              </a:rPr>
              <a:t>Seven AI agents that plan it, argue about it in front of you, and are held to your budget in code — built, deployed,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" y="4160520"/>
            <a:ext cx="2168956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7 AGENTS · 1 BACKWARD EDGE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3940" y="4160520"/>
            <a:ext cx="1269187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6 TRAVEL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416052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7 LANGUAGES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6556" y="4160520"/>
            <a:ext cx="1494129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₹0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92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4EF"/>
                </a:solidFill>
                <a:latin typeface="Segoe UI"/>
              </a:rPr>
              <a:t>Team DEBUGGERS — BITSoM · Product Management with Generative &amp; 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257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DB3AC"/>
                </a:solidFill>
                <a:latin typeface="Segoe UI"/>
              </a:rPr>
              <a:t>Shiva K · Nusrat Sultana · Divyam Singh · Manish Dwivedi · Devyani Harpale · Prajwal D R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417320"/>
            <a:ext cx="1920240" cy="1920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0" y="345643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EF4EF"/>
                </a:solidFill>
                <a:latin typeface="Segoe UI"/>
              </a:rPr>
              <a:t>scan → live product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14453D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713232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417320" y="960120"/>
            <a:ext cx="9692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the process of travel planning be simplified by designing a multi-agent system that can handle research, bookings, budget optimisation, and contextual recommendations?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no single system spans that whole brief planning, booking, budget and recommendations each live in a different, disconnected app: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20153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CFE0D8"/>
            </a:solidFill>
            <a:prstDash val="solid"/>
          </a:ln>
          <a:effectLst>
            <a:outerShdw blurRad="76200" dist="25400" dir="5400000" algn="bl" rotWithShape="0">
              <a:srgbClr val="1C2A26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82573" y="3246120"/>
            <a:ext cx="347472" cy="347472"/>
          </a:xfrm>
          <a:prstGeom prst="ellipse">
            <a:avLst/>
          </a:prstGeom>
          <a:solidFill>
            <a:srgbClr val="14453D"/>
          </a:solidFill>
          <a:ln/>
        </p:spPr>
      </p:sp>
      <p:sp>
        <p:nvSpPr>
          <p:cNvPr id="9" name="Text 7"/>
          <p:cNvSpPr/>
          <p:nvPr/>
        </p:nvSpPr>
        <p:spPr>
          <a:xfrm>
            <a:off x="1382573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3685032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4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3977640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MakeMyTrip, Expedia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4297680"/>
            <a:ext cx="18324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— no personalization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65146" y="3063240"/>
            <a:ext cx="20153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CFE0D8"/>
            </a:solidFill>
            <a:prstDash val="solid"/>
          </a:ln>
          <a:effectLst>
            <a:outerShdw blurRad="76200" dist="25400" dir="5400000" algn="bl" rotWithShape="0">
              <a:srgbClr val="1C2A26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9078" y="3246120"/>
            <a:ext cx="347472" cy="347472"/>
          </a:xfrm>
          <a:prstGeom prst="ellipse">
            <a:avLst/>
          </a:prstGeom>
          <a:solidFill>
            <a:srgbClr val="14453D"/>
          </a:solidFill>
          <a:ln/>
        </p:spPr>
      </p:sp>
      <p:sp>
        <p:nvSpPr>
          <p:cNvPr id="15" name="Text 13"/>
          <p:cNvSpPr/>
          <p:nvPr/>
        </p:nvSpPr>
        <p:spPr>
          <a:xfrm>
            <a:off x="3599078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74874" y="3685032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4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874874" y="3977640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Travel, Skyscanner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56586" y="4297680"/>
            <a:ext cx="18324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search — zero continuity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981651" y="3063240"/>
            <a:ext cx="20153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CFE0D8"/>
            </a:solidFill>
            <a:prstDash val="solid"/>
          </a:ln>
          <a:effectLst>
            <a:outerShdw blurRad="76200" dist="25400" dir="5400000" algn="bl" rotWithShape="0">
              <a:srgbClr val="1C2A26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15584" y="3246120"/>
            <a:ext cx="347472" cy="347472"/>
          </a:xfrm>
          <a:prstGeom prst="ellipse">
            <a:avLst/>
          </a:prstGeom>
          <a:solidFill>
            <a:srgbClr val="14453D"/>
          </a:solidFill>
          <a:ln/>
        </p:spPr>
      </p:sp>
      <p:sp>
        <p:nvSpPr>
          <p:cNvPr id="21" name="Text 19"/>
          <p:cNvSpPr/>
          <p:nvPr/>
        </p:nvSpPr>
        <p:spPr>
          <a:xfrm>
            <a:off x="5815584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91379" y="3685032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4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091379" y="3977640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Wanderlog, TripIt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73091" y="4297680"/>
            <a:ext cx="18324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Organises — doesn't decide or budget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198157" y="3063240"/>
            <a:ext cx="20153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CFE0D8"/>
            </a:solidFill>
            <a:prstDash val="solid"/>
          </a:ln>
          <a:effectLst>
            <a:outerShdw blurRad="76200" dist="25400" dir="5400000" algn="bl" rotWithShape="0">
              <a:srgbClr val="1C2A26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32090" y="3246120"/>
            <a:ext cx="347472" cy="347472"/>
          </a:xfrm>
          <a:prstGeom prst="ellipse">
            <a:avLst/>
          </a:prstGeom>
          <a:solidFill>
            <a:srgbClr val="14453D"/>
          </a:solidFill>
          <a:ln/>
        </p:spPr>
      </p:sp>
      <p:sp>
        <p:nvSpPr>
          <p:cNvPr id="27" name="Text 25"/>
          <p:cNvSpPr/>
          <p:nvPr/>
        </p:nvSpPr>
        <p:spPr>
          <a:xfrm>
            <a:off x="8032090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07885" y="3685032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4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Life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307885" y="3977640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Zomato, Uber, Ola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289597" y="4297680"/>
            <a:ext cx="18324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in-city — separate app entirely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414662" y="3063240"/>
            <a:ext cx="201533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CFE0D8"/>
            </a:solidFill>
            <a:prstDash val="solid"/>
          </a:ln>
          <a:effectLst>
            <a:outerShdw blurRad="76200" dist="25400" dir="5400000" algn="bl" rotWithShape="0">
              <a:srgbClr val="1C2A26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248595" y="3246120"/>
            <a:ext cx="347472" cy="347472"/>
          </a:xfrm>
          <a:prstGeom prst="ellipse">
            <a:avLst/>
          </a:prstGeom>
          <a:solidFill>
            <a:srgbClr val="14453D"/>
          </a:solidFill>
          <a:ln/>
        </p:spPr>
      </p:sp>
      <p:sp>
        <p:nvSpPr>
          <p:cNvPr id="33" name="Text 31"/>
          <p:cNvSpPr/>
          <p:nvPr/>
        </p:nvSpPr>
        <p:spPr>
          <a:xfrm>
            <a:off x="10248595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524390" y="3685032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4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Expenses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524390" y="3977640"/>
            <a:ext cx="17958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Splitwise, spreadsheets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506102" y="4297680"/>
            <a:ext cx="183245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re-entry, after the fact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4956048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B52E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5093208"/>
            <a:ext cx="10241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0E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So, the real brief isn't “build a better booking app.”  </a:t>
            </a:r>
            <a:r>
              <a:rPr lang="en-US" sz="1350" dirty="0">
                <a:solidFill>
                  <a:srgbClr val="0E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to design one multi-agent system that researches, books, optimises budget and recommends contextually across the whole trip, in one place. That's the system we built next.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TripME · Debuggers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73152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000" b="1" dirty="0"/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23291"/>
            <a:ext cx="11155680" cy="11079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lang="en-US" sz="3300" b="1" i="0" dirty="0" err="1">
                <a:solidFill>
                  <a:srgbClr val="0E1F1A"/>
                </a:solidFill>
                <a:latin typeface="Segoe UI"/>
              </a:rPr>
              <a:t>Trip</a:t>
            </a:r>
            <a:r>
              <a:rPr lang="en-US" sz="3300" b="1" i="0" dirty="0" err="1">
                <a:solidFill>
                  <a:srgbClr val="FFC000"/>
                </a:solidFill>
                <a:latin typeface="Segoe UI"/>
              </a:rPr>
              <a:t>ME</a:t>
            </a:r>
            <a:r>
              <a:rPr lang="en-US" sz="3300" b="1" i="0" dirty="0">
                <a:solidFill>
                  <a:srgbClr val="0E1F1A"/>
                </a:solidFill>
                <a:latin typeface="Segoe UI"/>
              </a:rPr>
              <a:t>: </a:t>
            </a:r>
            <a:r>
              <a:rPr sz="3300" b="1" i="0" dirty="0">
                <a:solidFill>
                  <a:srgbClr val="0E1F1A"/>
                </a:solidFill>
                <a:latin typeface="Segoe UI"/>
              </a:rPr>
              <a:t>Seven agents</a:t>
            </a:r>
            <a:r>
              <a:rPr lang="en-US" sz="3300" b="1" i="0" dirty="0">
                <a:solidFill>
                  <a:srgbClr val="0E1F1A"/>
                </a:solidFill>
                <a:latin typeface="Segoe UI"/>
              </a:rPr>
              <a:t>,</a:t>
            </a:r>
            <a:r>
              <a:rPr sz="3300" b="1" i="0" dirty="0">
                <a:solidFill>
                  <a:srgbClr val="0E1F1A"/>
                </a:solidFill>
                <a:latin typeface="Segoe UI"/>
              </a:rPr>
              <a:t> Typed handoffs</a:t>
            </a:r>
            <a:r>
              <a:rPr lang="en-US" sz="3300" b="1" i="0" dirty="0">
                <a:solidFill>
                  <a:srgbClr val="0E1F1A"/>
                </a:solidFill>
                <a:latin typeface="Segoe UI"/>
              </a:rPr>
              <a:t>,</a:t>
            </a:r>
            <a:r>
              <a:rPr sz="3300" b="1" i="0" dirty="0">
                <a:solidFill>
                  <a:srgbClr val="0E1F1A"/>
                </a:solidFill>
                <a:latin typeface="Segoe UI"/>
              </a:rPr>
              <a:t> One backward edge.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21742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Mood &amp;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672" y="241858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25980" y="221742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0732" y="241858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0" y="221742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241858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221742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Itinerary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6852" y="241858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221742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Booking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241858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8220" y="221742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FFB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0E1F1A"/>
                </a:solidFill>
                <a:latin typeface="Segoe UI"/>
              </a:rPr>
              <a:t>Referee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62972" y="241858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2213978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2724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58200"/>
                </a:solidFill>
                <a:latin typeface="Segoe UI"/>
              </a:rPr>
              <a:t>↩  the backward edge — </a:t>
            </a:r>
            <a:r>
              <a:rPr sz="1200" b="0">
                <a:solidFill>
                  <a:srgbClr val="0E1F1A"/>
                </a:solidFill>
                <a:latin typeface="Segoe UI"/>
              </a:rPr>
              <a:t>the Referee can reject another agent’s work and send it BACK to be re-done. Agents that negotiate — not a sequence of prompts.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520440"/>
            <a:ext cx="5486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5661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1">
                <a:solidFill>
                  <a:srgbClr val="14453D"/>
                </a:solidFill>
                <a:latin typeface="Segoe UI"/>
              </a:rPr>
              <a:t>Mood &amp; Intent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3557016"/>
            <a:ext cx="36118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50" b="0">
                <a:solidFill>
                  <a:srgbClr val="4E635C"/>
                </a:solidFill>
                <a:latin typeface="Segoe UI"/>
              </a:rPr>
              <a:t>Turns a feeling + budget into a structured brief — never invents a preference the traveller didn’t express.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520440"/>
            <a:ext cx="5486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56616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1">
                <a:solidFill>
                  <a:srgbClr val="14453D"/>
                </a:solidFill>
                <a:latin typeface="Segoe UI"/>
              </a:rPr>
              <a:t>Discovery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3557016"/>
            <a:ext cx="36118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50" b="0">
                <a:solidFill>
                  <a:srgbClr val="4E635C"/>
                </a:solidFill>
                <a:latin typeface="Segoe UI"/>
              </a:rPr>
              <a:t>Picks the destination with line-by-line evidence per non-negotiable; India-only scope enforced in the pipeline.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242816"/>
            <a:ext cx="5486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288536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1">
                <a:solidFill>
                  <a:srgbClr val="14453D"/>
                </a:solidFill>
                <a:latin typeface="Segoe UI"/>
              </a:rPr>
              <a:t>Budget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31720" y="4279392"/>
            <a:ext cx="36118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50" b="0">
                <a:solidFill>
                  <a:srgbClr val="4E635C"/>
                </a:solidFill>
                <a:latin typeface="Segoe UI"/>
              </a:rPr>
              <a:t>Allocates every rupee across transport, stay, food, activities and buffer — before anything is booked.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242816"/>
            <a:ext cx="5486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288536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1">
                <a:solidFill>
                  <a:srgbClr val="14453D"/>
                </a:solidFill>
                <a:latin typeface="Segoe UI"/>
              </a:rPr>
              <a:t>Itinerary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4279392"/>
            <a:ext cx="36118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50" b="0">
                <a:solidFill>
                  <a:srgbClr val="4E635C"/>
                </a:solidFill>
                <a:latin typeface="Segoe UI"/>
              </a:rPr>
              <a:t>Builds the day-by-day plan from real, map-resolved places — open data, not model memory.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965192"/>
            <a:ext cx="5486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01091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1">
                <a:solidFill>
                  <a:srgbClr val="14453D"/>
                </a:solidFill>
                <a:latin typeface="Segoe UI"/>
              </a:rPr>
              <a:t>Booking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001768"/>
            <a:ext cx="36118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50" b="0">
                <a:solidFill>
                  <a:srgbClr val="4E635C"/>
                </a:solidFill>
                <a:latin typeface="Segoe UI"/>
              </a:rPr>
              <a:t>Prepares simulated, gated bookings with real deep links; spend above threshold needs explicit approval.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4965192"/>
            <a:ext cx="5486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010912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1">
                <a:solidFill>
                  <a:srgbClr val="14453D"/>
                </a:solidFill>
                <a:latin typeface="Segoe UI"/>
              </a:rPr>
              <a:t>Referee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5001768"/>
            <a:ext cx="36118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50" b="0">
                <a:solidFill>
                  <a:srgbClr val="4E635C"/>
                </a:solidFill>
                <a:latin typeface="Segoe UI"/>
              </a:rPr>
              <a:t>Audits agents against each other, states conflicts in rupees; one Advocate per traveller in group mode.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687568"/>
            <a:ext cx="5486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733288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1">
                <a:solidFill>
                  <a:srgbClr val="14453D"/>
                </a:solidFill>
                <a:latin typeface="Segoe UI"/>
              </a:rPr>
              <a:t>Notification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31720" y="5724144"/>
            <a:ext cx="36118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50" b="0">
                <a:solidFill>
                  <a:srgbClr val="4E635C"/>
                </a:solidFill>
                <a:latin typeface="Segoe UI"/>
              </a:rPr>
              <a:t>Builds opt-in, time-anchored reminders — only from the bookings the traveller actually accepted.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5687568"/>
            <a:ext cx="5486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B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5733288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1">
                <a:solidFill>
                  <a:srgbClr val="C58200"/>
                </a:solidFill>
                <a:latin typeface="Segoe UI"/>
              </a:rPr>
              <a:t>The design rules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724144"/>
            <a:ext cx="36118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50" b="0">
                <a:solidFill>
                  <a:srgbClr val="4E635C"/>
                </a:solidFill>
                <a:latin typeface="Segoe UI"/>
              </a:rPr>
              <a:t>LLM for judgment, code for money — a model never touches arithmetic. Six travel paths, one architecture. The traveller gets the last word.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F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84C8CA-500B-AE82-E4A6-7A2D6DA1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66A641-68AA-FC2A-8E7D-23EC0A6BBDA0}"/>
              </a:ext>
            </a:extLst>
          </p:cNvPr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049266-CE97-BE05-85CD-F8258D9D6554}"/>
              </a:ext>
            </a:extLst>
          </p:cNvPr>
          <p:cNvSpPr txBox="1"/>
          <p:nvPr/>
        </p:nvSpPr>
        <p:spPr>
          <a:xfrm>
            <a:off x="822960" y="1417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6600" b="1" i="0" dirty="0" err="1">
                <a:solidFill>
                  <a:srgbClr val="FFFFFF"/>
                </a:solidFill>
                <a:latin typeface="Segoe UI"/>
              </a:rPr>
              <a:t>Trip</a:t>
            </a:r>
            <a:r>
              <a:rPr sz="6600" b="1" i="0" dirty="0" err="1">
                <a:solidFill>
                  <a:srgbClr val="FFB52E"/>
                </a:solidFill>
                <a:latin typeface="Segoe UI"/>
              </a:rPr>
              <a:t>ME</a:t>
            </a:r>
            <a:endParaRPr sz="6600" b="1" i="0" dirty="0">
              <a:solidFill>
                <a:srgbClr val="FFB52E"/>
              </a:solidFill>
              <a:latin typeface="Segoe U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35C3CF-0343-4B6E-0329-129910E6D5AF}"/>
              </a:ext>
            </a:extLst>
          </p:cNvPr>
          <p:cNvSpPr txBox="1"/>
          <p:nvPr/>
        </p:nvSpPr>
        <p:spPr>
          <a:xfrm>
            <a:off x="850392" y="2514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EEF4EF"/>
                </a:solidFill>
                <a:latin typeface="Segoe UI"/>
              </a:rPr>
              <a:t>One mood. One budget. One complete trip.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D82481-6052-C500-0692-B969A1500333}"/>
              </a:ext>
            </a:extLst>
          </p:cNvPr>
          <p:cNvSpPr txBox="1"/>
          <p:nvPr/>
        </p:nvSpPr>
        <p:spPr>
          <a:xfrm>
            <a:off x="850392" y="3246120"/>
            <a:ext cx="8412480" cy="6343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 dirty="0">
                <a:solidFill>
                  <a:srgbClr val="9DB3AC"/>
                </a:solidFill>
                <a:latin typeface="Segoe UI"/>
              </a:rPr>
              <a:t>Seven AI agents that plan it, argue about it in front of you, and are held to your budget in code  built, deployed, and live.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366B5D6-8ACF-0F5B-9091-DD64B9A44053}"/>
              </a:ext>
            </a:extLst>
          </p:cNvPr>
          <p:cNvSpPr/>
          <p:nvPr/>
        </p:nvSpPr>
        <p:spPr>
          <a:xfrm>
            <a:off x="850392" y="4160520"/>
            <a:ext cx="2168956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7 AGENTS · 1 BACKWARD EDGE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28E32-8BFE-1A9F-986B-13618CB1200C}"/>
              </a:ext>
            </a:extLst>
          </p:cNvPr>
          <p:cNvSpPr/>
          <p:nvPr/>
        </p:nvSpPr>
        <p:spPr>
          <a:xfrm>
            <a:off x="3183940" y="4160520"/>
            <a:ext cx="1269187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6 TRAVEL PATHS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9D555B-91F3-3965-702A-B535484A50B9}"/>
              </a:ext>
            </a:extLst>
          </p:cNvPr>
          <p:cNvSpPr/>
          <p:nvPr/>
        </p:nvSpPr>
        <p:spPr>
          <a:xfrm>
            <a:off x="4617720" y="416052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7 LANGUAGES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66083DC-1808-D0E5-1B68-5513C55809D8}"/>
              </a:ext>
            </a:extLst>
          </p:cNvPr>
          <p:cNvSpPr/>
          <p:nvPr/>
        </p:nvSpPr>
        <p:spPr>
          <a:xfrm>
            <a:off x="5826556" y="4160520"/>
            <a:ext cx="1494129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₹0 INFRASTRUCTURE</a:t>
            </a:r>
          </a:p>
        </p:txBody>
      </p:sp>
      <p:pic>
        <p:nvPicPr>
          <p:cNvPr id="12" name="Picture 11" descr="image.png">
            <a:extLst>
              <a:ext uri="{FF2B5EF4-FFF2-40B4-BE49-F238E27FC236}">
                <a16:creationId xmlns:a16="http://schemas.microsoft.com/office/drawing/2014/main" id="{CE38C0DF-871C-6F6A-48BF-E1A964E62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417320"/>
            <a:ext cx="1920240" cy="192024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69B929-777F-0258-566B-716D72899801}"/>
              </a:ext>
            </a:extLst>
          </p:cNvPr>
          <p:cNvSpPr txBox="1"/>
          <p:nvPr/>
        </p:nvSpPr>
        <p:spPr>
          <a:xfrm>
            <a:off x="9509760" y="345643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EF4EF"/>
                </a:solidFill>
                <a:latin typeface="Segoe UI"/>
              </a:rPr>
              <a:t>scan → live product</a:t>
            </a:r>
          </a:p>
        </p:txBody>
      </p:sp>
    </p:spTree>
    <p:extLst>
      <p:ext uri="{BB962C8B-B14F-4D97-AF65-F5344CB8AC3E}">
        <p14:creationId xmlns:p14="http://schemas.microsoft.com/office/powerpoint/2010/main" val="909214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58200"/>
                </a:solidFill>
                <a:latin typeface="Segoe UI"/>
              </a:rPr>
              <a:t>IMPLEMENTATION — HOW WE BUILT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>
                <a:solidFill>
                  <a:srgbClr val="0E1F1A"/>
                </a:solidFill>
                <a:latin typeface="Segoe UI"/>
              </a:rPr>
              <a:t>An agile process, a lean stack, AI only where it earns its place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1554480"/>
            <a:ext cx="3648456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16916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C58200"/>
                </a:solidFill>
                <a:latin typeface="Segoe UI"/>
              </a:rPr>
              <a:t>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048256"/>
            <a:ext cx="3273552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Agile → Scrum, run in Jira: a 61-story backlog groomed into six sprints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Sequenced by data dependency — Booking cannot exist before Itinerary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QA stories in every sprint, not batched at the end; moderated UAT with real users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Sprint 7 added on evidence: a plan you cannot change is a demo, not a product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A continuously maintained decision log — 27 entries; no call re-litigated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1554480"/>
            <a:ext cx="3648456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16916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C58200"/>
                </a:solidFill>
                <a:latin typeface="Segoe UI"/>
              </a:rPr>
              <a:t>TOOLS &amp; FRAMEWORKS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048256"/>
            <a:ext cx="3273552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Next.js App Router + TypeScript — UI and server routes in one deployable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Tailwind CSS v4 on a fixed design system — pine, marigold, Plex Mono for money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Vercel — push-to-deploy on every commit to main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Auth.js + Google OAuth + a password-less test user; the gate sits at commitment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OpenStreetMap + Nominatim + Wikipedia — real places, licensed photos, keyless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Trips in browser storage — a privacy position, not a missing database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554480"/>
            <a:ext cx="3648456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16916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C58200"/>
                </a:solidFill>
                <a:latin typeface="Segoe UI"/>
              </a:rPr>
              <a:t>AI &amp;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0184" y="2048256"/>
            <a:ext cx="3273552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Three Groq-hosted models, routed per agent by job: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• gpt-oss-120b — reasoning: Discovery, Itinerary, Budget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• qwen3.8-27b — arbitration: Referee, consensus, intent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• gpt-oss-20b — structural: Booking, Advocates, translation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Typed JSON-schema handoffs — every output validated before it enters trip-state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Per-agent failover chains across all three — quota, schema errors, even model retirement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0E1F1A"/>
                </a:solidFill>
                <a:latin typeface="Segoe UI"/>
              </a:rPr>
              <a:t>Deterministic money layer in code; translation runs after generation completes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806440"/>
            <a:ext cx="11201400" cy="530352"/>
          </a:xfrm>
          <a:prstGeom prst="roundRect">
            <a:avLst>
              <a:gd name="adj" fmla="val 8000"/>
            </a:avLst>
          </a:prstGeom>
          <a:solidFill>
            <a:srgbClr val="0E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88873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B52E"/>
                </a:solidFill>
                <a:latin typeface="Segoe UI"/>
              </a:rPr>
              <a:t>Total infrastructure cost: ₹0 </a:t>
            </a:r>
            <a:r>
              <a:rPr sz="1200" b="0">
                <a:solidFill>
                  <a:srgbClr val="EEF4EF"/>
                </a:solidFill>
                <a:latin typeface="Segoe UI"/>
              </a:rPr>
              <a:t>— every dependency inside a free tier. The constraint drove the engineering: three-model failover, identical-brief caching, zero-quota sample trips.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WHAT SHIPPED — AND WHAT WE REFUSE TO FAKE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E1F1A"/>
                </a:solidFill>
                <a:latin typeface="Segoe UI"/>
              </a:rPr>
              <a:t>A complete MVP that tells the truth about itself</a:t>
            </a:r>
          </a:p>
        </p:txBody>
      </p:sp>
      <p:pic>
        <p:nvPicPr>
          <p:cNvPr id="4" name="Picture 3" descr="01-landing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pic>
        <p:nvPicPr>
          <p:cNvPr id="5" name="Picture 4" descr="12-trip-boo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pic>
        <p:nvPicPr>
          <p:cNvPr id="6" name="Picture 5" descr="33-hindi-comple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Mood-first — no destination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Approval gates · DEMO labels on every booking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016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Agent output translated — figures untouched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4340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41655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18 MVP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441655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six paths · arbitration · override with re-pricing · reminders · settle-up · expense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34340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441655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Honesty as a feature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441655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bookings labelled simulated · prices marked “est.” · India-only stated and enforced in the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4924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542239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₹0 infrastructure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542239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three Groq models with per-agent failover · OpenStreetMap &amp; Wikipedia · Vercel — all free tier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534924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28232" y="542239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Privacy 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42239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trips never leave the browser; an account stores only name, email, picture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840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58200"/>
                </a:solidFill>
                <a:latin typeface="Segoe UI"/>
              </a:rPr>
              <a:t>KEY OUTCOMES &amp; 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0E1F1A"/>
                </a:solidFill>
                <a:latin typeface="Segoe UI"/>
              </a:rPr>
              <a:t>What TripME delivers — today, and measured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1554480"/>
            <a:ext cx="553212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C58200"/>
                </a:solidFill>
                <a:latin typeface="Segoe UI"/>
              </a:rPr>
              <a:t>OUTCOMES — SHIPPED AND VERIFIED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048256"/>
            <a:ext cx="5120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>
                <a:solidFill>
                  <a:srgbClr val="0E1F1A"/>
                </a:solidFill>
                <a:latin typeface="Segoe UI"/>
              </a:rPr>
              <a:t>Complete MVP live</a:t>
            </a:r>
            <a:r>
              <a:rPr sz="1200" b="0">
                <a:solidFill>
                  <a:srgbClr val="0E1F1A"/>
                </a:solidFill>
                <a:latin typeface="Segoe UI"/>
              </a:rPr>
              <a:t> — 18 features, all 6 travel paths, 7 languages, on a real URL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>
                <a:solidFill>
                  <a:srgbClr val="0E1F1A"/>
                </a:solidFill>
                <a:latin typeface="Segoe UI"/>
              </a:rPr>
              <a:t>4–6 hours → under 60 seconds</a:t>
            </a:r>
            <a:r>
              <a:rPr sz="1200" b="0">
                <a:solidFill>
                  <a:srgbClr val="0E1F1A"/>
                </a:solidFill>
                <a:latin typeface="Segoe UI"/>
              </a:rPr>
              <a:t> of agent time — measured and printed on every plan (34–58s)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>
                <a:solidFill>
                  <a:srgbClr val="0E1F1A"/>
                </a:solidFill>
                <a:latin typeface="Segoe UI"/>
              </a:rPr>
              <a:t>Arbitration is real</a:t>
            </a:r>
            <a:r>
              <a:rPr sz="1200" b="0">
                <a:solidFill>
                  <a:srgbClr val="0E1F1A"/>
                </a:solidFill>
                <a:latin typeface="Segoe UI"/>
              </a:rPr>
              <a:t> — the Referee rejected two agents’ work on a live run and re-planned it (9 calls, 58s)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>
                <a:solidFill>
                  <a:srgbClr val="0E1F1A"/>
                </a:solidFill>
                <a:latin typeface="Segoe UI"/>
              </a:rPr>
              <a:t>Survived a provider outage</a:t>
            </a:r>
            <a:r>
              <a:rPr sz="1200" b="0">
                <a:solidFill>
                  <a:srgbClr val="0E1F1A"/>
                </a:solidFill>
                <a:latin typeface="Segoe UI"/>
              </a:rPr>
              <a:t> — both original models were retired by Groq; failover absorbed 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1554480"/>
            <a:ext cx="5532120" cy="3017520"/>
          </a:xfrm>
          <a:prstGeom prst="roundRect">
            <a:avLst>
              <a:gd name="adj" fmla="val 8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8232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B52E"/>
                </a:solidFill>
                <a:latin typeface="Segoe UI"/>
              </a:rPr>
              <a:t>IMPACT — WHAT CHANGES FOR THE TRAVELLER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2048256"/>
            <a:ext cx="51206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One brief replaces 6–8 apps</a:t>
            </a:r>
            <a:r>
              <a:rPr sz="1200" b="0">
                <a:solidFill>
                  <a:srgbClr val="EEF4EF"/>
                </a:solidFill>
                <a:latin typeface="Segoe UI"/>
              </a:rPr>
              <a:t> — context entered once, carried end to end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Budget enforced during planning</a:t>
            </a:r>
            <a:r>
              <a:rPr sz="1200" b="0">
                <a:solidFill>
                  <a:srgbClr val="EEF4EF"/>
                </a:solidFill>
                <a:latin typeface="Segoe UI"/>
              </a:rPr>
              <a:t> — not reconciled after the money is gone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Groups reach a defensible plan</a:t>
            </a:r>
            <a:r>
              <a:rPr sz="1200" b="0">
                <a:solidFill>
                  <a:srgbClr val="EEF4EF"/>
                </a:solidFill>
                <a:latin typeface="Segoe UI"/>
              </a:rPr>
              <a:t> — a published concession matrix; nobody concedes twice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Honesty as shipped UI</a:t>
            </a:r>
            <a:r>
              <a:rPr sz="1200" b="0">
                <a:solidFill>
                  <a:srgbClr val="EEF4EF"/>
                </a:solidFill>
                <a:latin typeface="Segoe UI"/>
              </a:rPr>
              <a:t> — simulated labelled, prices marked est., scope stated up 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36592"/>
            <a:ext cx="11201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83717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4453D"/>
                </a:solidFill>
                <a:latin typeface="Segoe UI"/>
              </a:rPr>
              <a:t>Validation gates for the beta: </a:t>
            </a:r>
            <a:r>
              <a:rPr sz="1150" b="0">
                <a:solidFill>
                  <a:srgbClr val="4E635C"/>
                </a:solidFill>
                <a:latin typeface="Segoe UI"/>
              </a:rPr>
              <a:t>&gt;70% plan completion · &lt;60s median agent time · &gt;50% can explain the Referee · &gt;30% override something · &gt;25% confirm · &gt;20% return in 30 days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59552"/>
            <a:ext cx="11201400" cy="768096"/>
          </a:xfrm>
          <a:prstGeom prst="roundRect">
            <a:avLst>
              <a:gd name="adj" fmla="val 8000"/>
            </a:avLst>
          </a:prstGeom>
          <a:solidFill>
            <a:srgbClr val="0E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678424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EEF4EF"/>
                </a:solidFill>
                <a:latin typeface="Segoe UI"/>
              </a:rPr>
              <a:t>Try it now — </a:t>
            </a:r>
            <a:r>
              <a:rPr sz="1500" b="1">
                <a:solidFill>
                  <a:srgbClr val="FFB52E"/>
                </a:solidFill>
                <a:latin typeface="Segoe UI"/>
              </a:rPr>
              <a:t>tripme-khaki.vercel.app</a:t>
            </a:r>
            <a:r>
              <a:rPr sz="1100" b="0">
                <a:solidFill>
                  <a:srgbClr val="9DB3AC"/>
                </a:solidFill>
                <a:latin typeface="Segoe UI"/>
              </a:rPr>
              <a:t>   ·   wireframes: /wireframes.html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568756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EEF4EF"/>
                </a:solidFill>
                <a:latin typeface="Segoe UI"/>
              </a:rPr>
              <a:t>One mood. One budget.</a:t>
            </a:r>
          </a:p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EEF4EF"/>
                </a:solidFill>
                <a:latin typeface="Segoe UI"/>
              </a:rPr>
              <a:t>One complete trip.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EEF4EF"/>
                </a:solidFill>
                <a:latin typeface="Segoe UI"/>
              </a:rPr>
              <a:t>Appendix — for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703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DB3AC"/>
                </a:solidFill>
                <a:latin typeface="Segoe UI"/>
              </a:rPr>
              <a:t>Architecture &amp; PEAS · tech stack · testing · challenges we actually hit · ethics · prioritisation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Agent architecture — formally specified (PEAS)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2821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Mood &amp;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2821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goal-based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28216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accuracy of captured intent — never invents a preference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9514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3774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goal-based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377439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match relevance; India-only; must explain any substitution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44368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026663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026663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utility-based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026663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spend &amp; split correctness — arithmetic in code, never the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93591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675887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Itinerary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675887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75887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coherence &amp; pacing fit; places from open map data, not memory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42816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32511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Booking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32511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action, gated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325112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simulated bookings; every item above threshold needs explicit approval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92040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9743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Referee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9743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 + arbitration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4974336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conflicts in rupees; fairness floor; can send work backwards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126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562355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Notification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62355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model-based reflex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623559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time-anchored reminders; opt-in per trip, off by 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09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Design rule: as much autonomy as the stakes of the decision can safely support — and no more.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Tech: what we built with vs the funded version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ACTUALLY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Next.js App Router + TypeScript on Vercel — push-to-deploy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Groq: llama-3.3-70b · gpt-oss-120b · llama-3.1-8b — per-agent failover chains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Failover on 429 / 400 / 413 / 422 / 503 — quota becomes a slowdown, not an outage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OpenStreetMap + Nominatim + Wikipedia — real, keyless, licensed places &amp; photos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Auth.js + Google OAuth + password-less demo user · trips stay in the browser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Total infrastructure cost: ₹0 — every dependency inside a free tier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64592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FUNDED VERSION — AND WHY NOT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2148840"/>
            <a:ext cx="5120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LangGraph-class runtime — retries, checkpointing, observability at scale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Vector store for cross-trip preference memory; relational store for transactions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FCM/APNs push, SMS &amp; voice gateways — closed-app reminder delivery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Amadeus/Travelport, Uber/Ola, IRCTC behind one adapter — real bookings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502920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4E635C"/>
                </a:solidFill>
                <a:latin typeface="Segoe UI"/>
              </a:rPr>
              <a:t>Adding these before validation would be infrastructure without a user.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Challenges we actually hit (and what each taught us)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19072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Free-tier quota died mid-build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719072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The real limit was tokens-per-day, visible only in the 429 body. Built three-model per-agent failover; verified with the primary model fully exhausted.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670048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One model 400’d on a nested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670048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gpt-oss rejects a schema Llama accepts — took the Pilgrimage path down in production. Failover now covers 400/413/422/503, not just quota.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47872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621024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A few-shot example leaked into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621024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The Booking prompt said “like Bengaluru → Gokarna…” and got no origin field — so Bengaluru appeared in everyone’s reminders. Fix: origin in the payload, no city named in any prompt. Verified from Guwahati.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98848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Approvals survived price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4572000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You could approve ₹8,000 and confirm ₹14,000. Now any amount change revokes its approval — consent is to a number, not a line item.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449824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5522976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Built features were invisible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5522976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Confirm, reminders, email all shipped — behind an unsignposted gate chain. A gate that hides what is behind it looks unbuilt. Fix: the four-step stepper on every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Testing two failure modes · ethics as shipped behaviour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3212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Two failure modes: software bugs AND AI failures (hallucination, silent bad money decisions).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Offline regression per agent — fixed input/output suites re-run before any prompt change.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Observability — every agent decision and handoff logged; the raw JSON log is on every trip page.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RAG grounding — places from map data, not model memory.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Human-in-the-loop mandatory above the spend threshold.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Moderated UAT with 5–8 real users before release.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645920"/>
            <a:ext cx="553212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ETHICS — LIVE IN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214884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Privacy: trips never leave the device — stated on the sign-in page.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No silent substitution: out-of-scope asks are named and explained.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Money: gates, revocation, code-computed arithmetic.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Reminders: opt-in, time-anchored, never engagement-tuned.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No dark patterns: no fake scarcity, no urgency styling, no forced sign-in before value.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Standing question at every review: could we defend this to a journalist?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Prioritisation: three lenses had to 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4E635C"/>
                </a:solidFill>
                <a:latin typeface="Segoe UI"/>
              </a:rPr>
              <a:t>RICE (reach · impact · confidence · effort) ranked every feature → MoSCoW translated it for planning → a Value-vs-Complexity quadrant sanity-checked both.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112014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395728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E1F1A"/>
                </a:solidFill>
                <a:latin typeface="Segoe UI"/>
              </a:rPr>
              <a:t>Rule: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every Quick Win went into the MVP, full stop. Everything scoring Strategic Bet, Fill-in or Money Pit was excluded by rule, not by discretion — that is what kept the MVP minimal instead of merely “smaller than the vision”.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E1F1A"/>
                </a:solidFill>
                <a:latin typeface="Segoe UI"/>
              </a:rPr>
              <a:t>Example: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Notification reminders scored well on RICE — but for retention, not for the hypothesis. Deliberately pushed to Should-have, Sprint 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11201400" cy="2103120"/>
          </a:xfrm>
          <a:prstGeom prst="roundRect">
            <a:avLst>
              <a:gd name="adj" fmla="val 8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B52E"/>
                </a:solidFill>
                <a:latin typeface="Segoe UI"/>
              </a:rPr>
              <a:t>IF YOU ASK “WHAT WOULD YOU CUT NEXT TIME?”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Nothing from the Must list — but Sprint 7 (traveller control) taught us the real lesson: a plan the traveller cannot change is a demo, not a product. We would plan for override from Sprint 1.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And we would instrument the funnel from day one — you cannot measure a launch retroactively.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1646</Words>
  <Application>Microsoft Office PowerPoint</Application>
  <PresentationFormat>Widescreen</PresentationFormat>
  <Paragraphs>191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DEVYANI</dc:creator>
  <cp:keywords/>
  <dc:description>generated using python-pptx</dc:description>
  <cp:lastModifiedBy>Devyani Harpale</cp:lastModifiedBy>
  <cp:revision>3</cp:revision>
  <dcterms:created xsi:type="dcterms:W3CDTF">2013-01-27T09:14:16Z</dcterms:created>
  <dcterms:modified xsi:type="dcterms:W3CDTF">2026-09-05T05:38:02Z</dcterms:modified>
  <cp:category/>
</cp:coreProperties>
</file>