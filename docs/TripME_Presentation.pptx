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E3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6600" b="1" i="0">
                <a:solidFill>
                  <a:srgbClr val="FFFFFF"/>
                </a:solidFill>
                <a:latin typeface="Segoe UI"/>
              </a:rPr>
              <a:t>Trip</a:t>
            </a:r>
            <a:r>
              <a:rPr sz="6600" b="1" i="0">
                <a:solidFill>
                  <a:srgbClr val="FFB52E"/>
                </a:solidFill>
                <a:latin typeface="Segoe UI"/>
              </a:rPr>
              <a:t>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514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 i="0">
                <a:solidFill>
                  <a:srgbClr val="EEF4EF"/>
                </a:solidFill>
                <a:latin typeface="Segoe UI"/>
              </a:rPr>
              <a:t>One mood. One budget. One complete trip.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3246120"/>
            <a:ext cx="8412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9DB3AC"/>
                </a:solidFill>
                <a:latin typeface="Segoe UI"/>
              </a:rPr>
              <a:t>Seven AI agents that plan it, argue about it in front of you, and are held to your budget in code — built, deployed, and 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0392" y="4160520"/>
            <a:ext cx="2168956" cy="292608"/>
          </a:xfrm>
          <a:prstGeom prst="roundRect">
            <a:avLst>
              <a:gd name="adj" fmla="val 50000"/>
            </a:avLst>
          </a:prstGeom>
          <a:solidFill>
            <a:srgbClr val="144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1">
                <a:solidFill>
                  <a:srgbClr val="EEF4EF"/>
                </a:solidFill>
                <a:latin typeface="Segoe UI"/>
              </a:rPr>
              <a:t>7 AGENTS · 1 BACKWARD EDGE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83940" y="4160520"/>
            <a:ext cx="1269187" cy="292608"/>
          </a:xfrm>
          <a:prstGeom prst="roundRect">
            <a:avLst>
              <a:gd name="adj" fmla="val 50000"/>
            </a:avLst>
          </a:prstGeom>
          <a:solidFill>
            <a:srgbClr val="144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1">
                <a:solidFill>
                  <a:srgbClr val="EEF4EF"/>
                </a:solidFill>
                <a:latin typeface="Segoe UI"/>
              </a:rPr>
              <a:t>6 TRAVEL PATHS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416052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144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1">
                <a:solidFill>
                  <a:srgbClr val="EEF4EF"/>
                </a:solidFill>
                <a:latin typeface="Segoe UI"/>
              </a:rPr>
              <a:t>7 LANGUAGES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6556" y="4160520"/>
            <a:ext cx="1494129" cy="292608"/>
          </a:xfrm>
          <a:prstGeom prst="roundRect">
            <a:avLst>
              <a:gd name="adj" fmla="val 50000"/>
            </a:avLst>
          </a:prstGeom>
          <a:solidFill>
            <a:srgbClr val="144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1">
                <a:solidFill>
                  <a:srgbClr val="EEF4EF"/>
                </a:solidFill>
                <a:latin typeface="Segoe UI"/>
              </a:rPr>
              <a:t>₹0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92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EF4EF"/>
                </a:solidFill>
                <a:latin typeface="Segoe UI"/>
              </a:rPr>
              <a:t>Team DEBUGGERS — BITSoM · Product Management with Generative &amp; Agentic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2578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DB3AC"/>
                </a:solidFill>
                <a:latin typeface="Segoe UI"/>
              </a:rPr>
              <a:t>Shiva K · Nusrat Sultana · Divyam Singh · Manish Dwivedi · Devyani Harpale · Prajwal D R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417320"/>
            <a:ext cx="1920240" cy="1920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09760" y="3456432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EEF4EF"/>
                </a:solidFill>
                <a:latin typeface="Segoe UI"/>
              </a:rPr>
              <a:t>scan → live product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THE PROBLEM — EVIDENCED, NOT IMAGINED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300" b="1" i="0">
                <a:solidFill>
                  <a:srgbClr val="0E1F1A"/>
                </a:solidFill>
                <a:latin typeface="Segoe UI"/>
              </a:rPr>
              <a:t>Planning one trip means 6–8 apps that never talk to each other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55778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0992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E1F1A"/>
                </a:solidFill>
                <a:latin typeface="Segoe UI"/>
              </a:rPr>
              <a:t>Budget is a hope, not a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4E635C"/>
                </a:solidFill>
                <a:latin typeface="Segoe UI"/>
              </a:rPr>
              <a:t>Estimated before the trip, reconciled after it — never enforced during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715768"/>
            <a:ext cx="55778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25496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E1F1A"/>
                </a:solidFill>
                <a:latin typeface="Segoe UI"/>
              </a:rPr>
              <a:t>Groups fail at agreement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72968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4E635C"/>
                </a:solidFill>
                <a:latin typeface="Segoe UI"/>
              </a:rPr>
              <a:t>The hard part is not booking — it is getting five people to one plan.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31335"/>
            <a:ext cx="55778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941063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E1F1A"/>
                </a:solidFill>
                <a:latin typeface="Segoe UI"/>
              </a:rPr>
              <a:t>Recommendations are black boxes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88536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4E635C"/>
                </a:solidFill>
                <a:latin typeface="Segoe UI"/>
              </a:rPr>
              <a:t>No reasoning attached, so they cannot be interrogated or trusted.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46903"/>
            <a:ext cx="55778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056631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E1F1A"/>
                </a:solidFill>
                <a:latin typeface="Segoe UI"/>
              </a:rPr>
              <a:t>Context is re-entered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04103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4E635C"/>
                </a:solidFill>
                <a:latin typeface="Segoe UI"/>
              </a:rPr>
              <a:t>4–6 hours across apps, typing the same dates and budget at every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600200"/>
            <a:ext cx="5303520" cy="2377440"/>
          </a:xfrm>
          <a:prstGeom prst="roundRect">
            <a:avLst>
              <a:gd name="adj" fmla="val 8000"/>
            </a:avLst>
          </a:prstGeom>
          <a:solidFill>
            <a:srgbClr val="144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7830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B52E"/>
                </a:solidFill>
                <a:latin typeface="Segoe UI"/>
              </a:rPr>
              <a:t>EVIDENCE — 5 JTBD INTERVIEWS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148840"/>
            <a:ext cx="4800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EEF4EF"/>
                </a:solidFill>
                <a:latin typeface="Segoe UI"/>
              </a:rPr>
              <a:t>Every participant used multiple tools and re-entered the same context.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EEF4EF"/>
                </a:solidFill>
                <a:latin typeface="Segoe UI"/>
              </a:rPr>
              <a:t>Expense tracking: the worst part — always done after the fact.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EEF4EF"/>
                </a:solidFill>
                <a:latin typeface="Segoe UI"/>
              </a:rPr>
              <a:t>Group trips stalled at agreement, never at booking.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EEF4EF"/>
                </a:solidFill>
                <a:latin typeface="Segoe UI"/>
              </a:rPr>
              <a:t>Nobody trusted a recommendation they could not question.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B5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315968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CORE HYPOTHESIS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663440"/>
            <a:ext cx="4800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0E1F1A"/>
                </a:solidFill>
                <a:latin typeface="Segoe UI"/>
              </a:rPr>
              <a:t>A mood-first, single-app experience — visible reasoning, upfront budget certainty, trade-offs arbitrated in front of the user — beats today’s fragmented process.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TripME · Team DEBUGGERS · tripme-khaki.vercel.app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300" b="1" i="0">
                <a:solidFill>
                  <a:srgbClr val="0E1F1A"/>
                </a:solidFill>
                <a:latin typeface="Segoe UI"/>
              </a:rPr>
              <a:t>Seven agents. Typed handoffs. One backward edge.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481328" cy="868680"/>
          </a:xfrm>
          <a:prstGeom prst="roundRect">
            <a:avLst>
              <a:gd name="adj" fmla="val 8000"/>
            </a:avLst>
          </a:prstGeom>
          <a:solidFill>
            <a:srgbClr val="0E3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Mood &amp; Intent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7672" y="198424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4E635C"/>
                </a:solidFill>
                <a:latin typeface="Segoe U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25980" y="1783080"/>
            <a:ext cx="1481328" cy="868680"/>
          </a:xfrm>
          <a:prstGeom prst="roundRect">
            <a:avLst>
              <a:gd name="adj" fmla="val 8000"/>
            </a:avLst>
          </a:prstGeom>
          <a:solidFill>
            <a:srgbClr val="0E3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Discovery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70732" y="198424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4E635C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40" y="1783080"/>
            <a:ext cx="1481328" cy="868680"/>
          </a:xfrm>
          <a:prstGeom prst="roundRect">
            <a:avLst>
              <a:gd name="adj" fmla="val 8000"/>
            </a:avLst>
          </a:prstGeom>
          <a:solidFill>
            <a:srgbClr val="0E3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93792" y="198424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4E635C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72100" y="1783080"/>
            <a:ext cx="1481328" cy="868680"/>
          </a:xfrm>
          <a:prstGeom prst="roundRect">
            <a:avLst>
              <a:gd name="adj" fmla="val 8000"/>
            </a:avLst>
          </a:prstGeom>
          <a:solidFill>
            <a:srgbClr val="0E3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Itinerary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6852" y="198424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4E635C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1783080"/>
            <a:ext cx="1481328" cy="868680"/>
          </a:xfrm>
          <a:prstGeom prst="roundRect">
            <a:avLst>
              <a:gd name="adj" fmla="val 8000"/>
            </a:avLst>
          </a:prstGeom>
          <a:solidFill>
            <a:srgbClr val="0E3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Booking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9912" y="198424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4E635C"/>
                </a:solidFill>
                <a:latin typeface="Segoe U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18220" y="1783080"/>
            <a:ext cx="1481328" cy="868680"/>
          </a:xfrm>
          <a:prstGeom prst="roundRect">
            <a:avLst>
              <a:gd name="adj" fmla="val 8000"/>
            </a:avLst>
          </a:prstGeom>
          <a:solidFill>
            <a:srgbClr val="FFB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0E1F1A"/>
                </a:solidFill>
                <a:latin typeface="Segoe UI"/>
              </a:rPr>
              <a:t>Referee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62972" y="198424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4E635C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0" y="1783080"/>
            <a:ext cx="1481328" cy="868680"/>
          </a:xfrm>
          <a:prstGeom prst="roundRect">
            <a:avLst>
              <a:gd name="adj" fmla="val 8000"/>
            </a:avLst>
          </a:prstGeom>
          <a:solidFill>
            <a:srgbClr val="0E3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Segoe UI"/>
              </a:rPr>
              <a:t>Notification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74320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C58200"/>
                </a:solidFill>
                <a:latin typeface="Segoe UI"/>
              </a:rPr>
              <a:t>↩  the backward edge — </a:t>
            </a:r>
            <a:r>
              <a:rPr sz="1300" b="0" i="0">
                <a:solidFill>
                  <a:srgbClr val="0E1F1A"/>
                </a:solidFill>
                <a:latin typeface="Segoe UI"/>
              </a:rPr>
              <a:t>the Referee audits Itinerary against Budget and can send the work BACK. Agents that can reject each other’s work are what make this a system, not a sequence.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291840"/>
            <a:ext cx="112014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38328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0E1F1A"/>
                </a:solidFill>
                <a:latin typeface="Segoe UI"/>
              </a:rPr>
              <a:t>LLM for judgment, code for money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3383280"/>
            <a:ext cx="73609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4E635C"/>
                </a:solidFill>
                <a:latin typeface="Segoe UI"/>
              </a:rPr>
              <a:t>Models propose destinations and plans. Every rupee — totals, splits, re-pricing, approval thresholds — is computed deterministically in code. A model never touches arithmetic.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352544"/>
            <a:ext cx="112014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443983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0E1F1A"/>
                </a:solidFill>
                <a:latin typeface="Segoe UI"/>
              </a:rPr>
              <a:t>Six travel paths, one architecture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520" y="4443983"/>
            <a:ext cx="73609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4E635C"/>
                </a:solidFill>
                <a:latin typeface="Segoe UI"/>
              </a:rPr>
              <a:t>Solo, Couple, Group, Family, Pilgrimage, Corporate. Each changes what the agents do — corporate swaps mood for policy; groups get one Advocate agent per traveller.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413248"/>
            <a:ext cx="112014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504688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0E1F1A"/>
                </a:solidFill>
                <a:latin typeface="Segoe UI"/>
              </a:rPr>
              <a:t>The traveller gets the last word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5504688"/>
            <a:ext cx="73609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4E635C"/>
                </a:solidFill>
                <a:latin typeface="Segoe UI"/>
              </a:rPr>
              <a:t>Every decision is overridable. Change the stay and the whole trip re-prices instantly — and any approval on a changed amount is revoked. Consent is to a number.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TripME · Team DEBUGGERS · tripme-khaki.vercel.app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IMPLEMENTATION — CAUGHT LIVE ON THE DEPLOYED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0E1F1A"/>
                </a:solidFill>
                <a:latin typeface="Segoe UI"/>
              </a:rPr>
              <a:t>The Referee rejected two agents’ work — on camera</a:t>
            </a:r>
          </a:p>
        </p:txBody>
      </p:sp>
      <p:pic>
        <p:nvPicPr>
          <p:cNvPr id="4" name="Picture 3" descr="27-agent-stream-mid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6720840" cy="4200525"/>
          </a:xfrm>
          <a:prstGeom prst="rect">
            <a:avLst/>
          </a:prstGeom>
          <a:ln w="12700">
            <a:solidFill>
              <a:srgbClr val="D8DFDB"/>
            </a:solidFill>
          </a:ln>
          <a:effectLst/>
        </p:spPr>
      </p:pic>
      <p:sp>
        <p:nvSpPr>
          <p:cNvPr id="5" name="Rounded Rectangle 4"/>
          <p:cNvSpPr/>
          <p:nvPr/>
        </p:nvSpPr>
        <p:spPr>
          <a:xfrm>
            <a:off x="502920" y="5486400"/>
            <a:ext cx="6720840" cy="566928"/>
          </a:xfrm>
          <a:prstGeom prst="roundRect">
            <a:avLst>
              <a:gd name="adj" fmla="val 8000"/>
            </a:avLst>
          </a:prstGeom>
          <a:solidFill>
            <a:srgbClr val="0E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568696"/>
            <a:ext cx="6400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EF4EF"/>
                </a:solidFill>
                <a:latin typeface="Segoe UI"/>
              </a:rPr>
              <a:t>Live run · solo · ₹25,000 · from Pune  —  </a:t>
            </a:r>
            <a:r>
              <a:rPr sz="1150" b="1" i="0">
                <a:solidFill>
                  <a:srgbClr val="FFB52E"/>
                </a:solidFill>
                <a:latin typeface="Segoe UI"/>
              </a:rPr>
              <a:t>₹10,000 of activities vs a ₹5,000 allocation → sent backwards → both agents re-ran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52360" y="1554480"/>
            <a:ext cx="4251960" cy="20848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69164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58200"/>
                </a:solidFill>
                <a:latin typeface="Segoe UI"/>
              </a:rPr>
              <a:t>WHAT YOU ARE SEEING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029968"/>
            <a:ext cx="3840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Referee Agent · budget audit — conflict stated in rupees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Budget Agent · re-planning — “triggered by Referee”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Itinerary Agent · revised to fit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 i="0">
                <a:solidFill>
                  <a:srgbClr val="0E1F1A"/>
                </a:solidFill>
                <a:latin typeface="Segoe UI"/>
              </a:rPr>
              <a:t>Result: 9 agent calls · 58s · “Re-planned by Referee” in the header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52360" y="3794760"/>
            <a:ext cx="4251960" cy="2286000"/>
          </a:xfrm>
          <a:prstGeom prst="roundRect">
            <a:avLst>
              <a:gd name="adj" fmla="val 8000"/>
            </a:avLst>
          </a:prstGeom>
          <a:solidFill>
            <a:srgbClr val="144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393192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B52E"/>
                </a:solidFill>
                <a:latin typeface="Segoe UI"/>
              </a:rPr>
              <a:t>AND FOR GROUPS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261104"/>
            <a:ext cx="384048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0">
                <a:solidFill>
                  <a:srgbClr val="EEF4EF"/>
                </a:solidFill>
                <a:latin typeface="Segoe UI"/>
              </a:rPr>
              <a:t>One Advocate agent per traveller.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0">
                <a:solidFill>
                  <a:srgbClr val="EEF4EF"/>
                </a:solidFill>
                <a:latin typeface="Segoe UI"/>
              </a:rPr>
              <a:t>The Referee publishes who conceded what, with a satisfaction score per person.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 i="0">
                <a:solidFill>
                  <a:srgbClr val="FFB52E"/>
                </a:solidFill>
                <a:latin typeface="Segoe UI"/>
              </a:rPr>
              <a:t>The fairness floor, in writing: “Nobody conceded twice.”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TripME · Team DEBUGGERS · tripme-khaki.vercel.app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WHAT SHIPPED — AND WHAT WE REFUSE TO FAKE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0E1F1A"/>
                </a:solidFill>
                <a:latin typeface="Segoe UI"/>
              </a:rPr>
              <a:t>A complete MVP that tells the truth about itself</a:t>
            </a:r>
          </a:p>
        </p:txBody>
      </p:sp>
      <p:pic>
        <p:nvPicPr>
          <p:cNvPr id="4" name="Picture 3" descr="01-landing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2768"/>
            <a:ext cx="3657600" cy="2286000"/>
          </a:xfrm>
          <a:prstGeom prst="rect">
            <a:avLst/>
          </a:prstGeom>
          <a:ln w="12700">
            <a:solidFill>
              <a:srgbClr val="D8DFDB"/>
            </a:solidFill>
          </a:ln>
          <a:effectLst/>
        </p:spPr>
      </p:pic>
      <p:pic>
        <p:nvPicPr>
          <p:cNvPr id="5" name="Picture 4" descr="12-trip-book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5968" y="1572768"/>
            <a:ext cx="3657600" cy="2286000"/>
          </a:xfrm>
          <a:prstGeom prst="rect">
            <a:avLst/>
          </a:prstGeom>
          <a:ln w="12700">
            <a:solidFill>
              <a:srgbClr val="D8DFDB"/>
            </a:solidFill>
          </a:ln>
          <a:effectLst/>
        </p:spPr>
      </p:pic>
      <p:pic>
        <p:nvPicPr>
          <p:cNvPr id="6" name="Picture 5" descr="33-hindi-comple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016" y="1572768"/>
            <a:ext cx="3657600" cy="2286000"/>
          </a:xfrm>
          <a:prstGeom prst="rect">
            <a:avLst/>
          </a:prstGeom>
          <a:ln w="12700">
            <a:solidFill>
              <a:srgbClr val="D8DFDB"/>
            </a:solidFill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502920" y="391363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4E635C"/>
                </a:solidFill>
                <a:latin typeface="Segoe UI"/>
              </a:rPr>
              <a:t>Mood-first — no destination 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5968" y="391363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4E635C"/>
                </a:solidFill>
                <a:latin typeface="Segoe UI"/>
              </a:rPr>
              <a:t>Approval gates · DEMO labels on every booking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9016" y="391363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4E635C"/>
                </a:solidFill>
                <a:latin typeface="Segoe UI"/>
              </a:rPr>
              <a:t>Agent output translated — figures untouched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343400"/>
            <a:ext cx="55321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416552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350" b="1" i="0">
                <a:solidFill>
                  <a:srgbClr val="0E1F1A"/>
                </a:solidFill>
                <a:latin typeface="Segoe UI"/>
              </a:rPr>
              <a:t>18 MVP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4416552"/>
            <a:ext cx="3246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4E635C"/>
                </a:solidFill>
                <a:latin typeface="Segoe UI"/>
              </a:rPr>
              <a:t>six paths · arbitration · override with re-pricing · reminders · settle-up · expense report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343400"/>
            <a:ext cx="55321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416552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350" b="1" i="0">
                <a:solidFill>
                  <a:srgbClr val="0E1F1A"/>
                </a:solidFill>
                <a:latin typeface="Segoe UI"/>
              </a:rPr>
              <a:t>Honesty as a feature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4416552"/>
            <a:ext cx="3246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4E635C"/>
                </a:solidFill>
                <a:latin typeface="Segoe UI"/>
              </a:rPr>
              <a:t>bookings labelled simulated · prices marked “est.” · India-only stated and enforced in the pipeline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349240"/>
            <a:ext cx="55321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422392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350" b="1" i="0">
                <a:solidFill>
                  <a:srgbClr val="0E1F1A"/>
                </a:solidFill>
                <a:latin typeface="Segoe UI"/>
              </a:rPr>
              <a:t>₹0 infrastructure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5422392"/>
            <a:ext cx="3246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4E635C"/>
                </a:solidFill>
                <a:latin typeface="Segoe UI"/>
              </a:rPr>
              <a:t>three Groq models with per-agent failover · OpenStreetMap &amp; Wikipedia · Vercel — all free tier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5349240"/>
            <a:ext cx="55321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5422392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350" b="1" i="0">
                <a:solidFill>
                  <a:srgbClr val="0E1F1A"/>
                </a:solidFill>
                <a:latin typeface="Segoe UI"/>
              </a:rPr>
              <a:t>Privacy position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422392"/>
            <a:ext cx="3246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4E635C"/>
                </a:solidFill>
                <a:latin typeface="Segoe UI"/>
              </a:rPr>
              <a:t>trips never leave the browser; an account stores only name, email, picture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TripME · Team DEBUGGERS · tripme-khaki.vercel.app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OUTCOMES, VALIDATION &amp; WHAT’S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0E1F1A"/>
                </a:solidFill>
                <a:latin typeface="Segoe UI"/>
              </a:rPr>
              <a:t>Instrumented targets, honest scope, a sequenced launch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562356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1907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58200"/>
                </a:solidFill>
                <a:latin typeface="Segoe UI"/>
              </a:rPr>
              <a:t>HOW WE KNOW IT WORKS — MVP TARGETS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E1F1A"/>
                </a:solidFill>
                <a:latin typeface="Segoe UI"/>
              </a:rPr>
              <a:t>Plan completion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54680" y="210312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&gt; 70% of started briefs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51176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E1F1A"/>
                </a:solidFill>
                <a:latin typeface="Segoe UI"/>
              </a:rPr>
              <a:t>Agent time to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2551176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median &lt; 60s — measured on-screen (34–58s)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E1F1A"/>
                </a:solidFill>
                <a:latin typeface="Segoe UI"/>
              </a:rPr>
              <a:t>Referee comprehension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2999232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&gt; 50% of testers can explain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4728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E1F1A"/>
                </a:solidFill>
                <a:latin typeface="Segoe UI"/>
              </a:rPr>
              <a:t>Override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3447288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&gt; 30% change something — the plan is theirs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95344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E1F1A"/>
                </a:solidFill>
                <a:latin typeface="Segoe UI"/>
              </a:rPr>
              <a:t>Confirm rate · 30-day return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3895344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&gt; 25% · &gt; 20%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600200"/>
            <a:ext cx="530352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1719072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58200"/>
                </a:solidFill>
                <a:latin typeface="Segoe UI"/>
              </a:rPr>
              <a:t>NEXT — IN ORDER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2103120"/>
            <a:ext cx="48463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453D"/>
                </a:solidFill>
                <a:latin typeface="Segoe UI"/>
              </a:rPr>
              <a:t>1  </a:t>
            </a:r>
            <a:r>
              <a:rPr sz="1250" b="0" i="0">
                <a:solidFill>
                  <a:srgbClr val="0E1F1A"/>
                </a:solidFill>
                <a:latin typeface="Segoe UI"/>
              </a:rPr>
              <a:t>Launch to two personas only — solo &amp; couple; groups and families at month 3+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453D"/>
                </a:solidFill>
                <a:latin typeface="Segoe UI"/>
              </a:rPr>
              <a:t>2  </a:t>
            </a:r>
            <a:r>
              <a:rPr sz="1250" b="0" i="0">
                <a:solidFill>
                  <a:srgbClr val="0E1F1A"/>
                </a:solidFill>
                <a:latin typeface="Segoe UI"/>
              </a:rPr>
              <a:t>Real booking execution behind the same approval gates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453D"/>
                </a:solidFill>
                <a:latin typeface="Segoe UI"/>
              </a:rPr>
              <a:t>3  </a:t>
            </a:r>
            <a:r>
              <a:rPr sz="1250" b="0" i="0">
                <a:solidFill>
                  <a:srgbClr val="0E1F1A"/>
                </a:solidFill>
                <a:latin typeface="Segoe UI"/>
              </a:rPr>
              <a:t>Voice input &amp; large-text — owed before pilgrimage acquisition is honest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1" i="0">
                <a:solidFill>
                  <a:srgbClr val="14453D"/>
                </a:solidFill>
                <a:latin typeface="Segoe UI"/>
              </a:rPr>
              <a:t>4  </a:t>
            </a:r>
            <a:r>
              <a:rPr sz="1250" b="0" i="0">
                <a:solidFill>
                  <a:srgbClr val="0E1F1A"/>
                </a:solidFill>
                <a:latin typeface="Segoe UI"/>
              </a:rPr>
              <a:t>Monetise: commission · Pro tier · early-bird plan lock-in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63440"/>
            <a:ext cx="11201400" cy="1234440"/>
          </a:xfrm>
          <a:prstGeom prst="roundRect">
            <a:avLst>
              <a:gd name="adj" fmla="val 8000"/>
            </a:avLst>
          </a:prstGeom>
          <a:solidFill>
            <a:srgbClr val="0E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46320"/>
            <a:ext cx="7772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700" b="1" i="0">
                <a:solidFill>
                  <a:srgbClr val="EEF4EF"/>
                </a:solidFill>
                <a:latin typeface="Segoe UI"/>
              </a:rPr>
              <a:t>Try it now — </a:t>
            </a:r>
            <a:r>
              <a:rPr sz="1700" b="1" i="0">
                <a:solidFill>
                  <a:srgbClr val="FFB52E"/>
                </a:solidFill>
                <a:latin typeface="Segoe UI"/>
              </a:rPr>
              <a:t>tripme-khaki.vercel.app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 i="0">
                <a:solidFill>
                  <a:srgbClr val="9DB3AC"/>
                </a:solidFill>
                <a:latin typeface="Segoe UI"/>
              </a:rPr>
              <a:t>wireframes: /wireframes.html · source: github.com/divyamsingh4444/tripme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4864608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EEF4EF"/>
                </a:solidFill>
                <a:latin typeface="Segoe UI"/>
              </a:rPr>
              <a:t>One mood. One budget.
One complete trip.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TripME · Team DEBUGGERS · tripme-khaki.vercel.app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33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 i="0">
                <a:solidFill>
                  <a:srgbClr val="EEF4EF"/>
                </a:solidFill>
                <a:latin typeface="Segoe UI"/>
              </a:rPr>
              <a:t>Appendix — for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703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DB3AC"/>
                </a:solidFill>
                <a:latin typeface="Segoe UI"/>
              </a:rPr>
              <a:t>Architecture &amp; PEAS · tech stack · testing · challenges we actually hit · ethics · prioritisation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APPENDIX A1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E1F1A"/>
                </a:solidFill>
                <a:latin typeface="Segoe UI"/>
              </a:rPr>
              <a:t>Agent architecture — formally specified (PEAS)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28216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Mood &amp; Intent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728216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goal-based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728216"/>
            <a:ext cx="6583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accuracy of captured intent — never invents a preference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95144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77439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Discovery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377439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goal-based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377439"/>
            <a:ext cx="6583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match relevance; India-only; must explain any substitution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44368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026663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Budget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026663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utility-based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026663"/>
            <a:ext cx="6583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spend &amp; split correctness — arithmetic in code, never the 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93591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675887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Itinerary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675887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utility-based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675887"/>
            <a:ext cx="6583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coherence &amp; pacing fit; places from open map data, not memory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242816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325112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Booking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4325112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action, gated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4325112"/>
            <a:ext cx="6583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simulated bookings; every item above threshold needs explicit approval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92040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974336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Referee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4974336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utility + arbitration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4974336"/>
            <a:ext cx="6583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conflicts in rupees; fairness floor; can send work backwards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41264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623559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Notification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5623559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model-based reflex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5623559"/>
            <a:ext cx="6583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time-anchored reminders; opt-in per trip, off by default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30936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4453D"/>
                </a:solidFill>
                <a:latin typeface="Segoe UI"/>
              </a:rPr>
              <a:t>Design rule: as much autonomy as the stakes of the decision can safely support — and no more.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APPENDIX A2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E1F1A"/>
                </a:solidFill>
                <a:latin typeface="Segoe UI"/>
              </a:rPr>
              <a:t>Tech: what we built with vs the funded version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55321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4453D"/>
                </a:solidFill>
                <a:latin typeface="Segoe UI"/>
              </a:rPr>
              <a:t>ACTUALLY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512064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Next.js App Router + TypeScript on Vercel — push-to-deploy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Groq: llama-3.3-70b · gpt-oss-120b · llama-3.1-8b — per-agent failover chains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Failover on 429 / 400 / 413 / 422 / 503 — quota becomes a slowdown, not an outage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OpenStreetMap + Nominatim + Wikipedia — real, keyless, licensed places &amp; photos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Auth.js + Google OAuth + password-less demo user · trips stay in the browser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Total infrastructure cost: ₹0 — every dependency inside a free tier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645920"/>
            <a:ext cx="55321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7830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FUNDED VERSION — AND WHY NOT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8232" y="2148840"/>
            <a:ext cx="512064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LangGraph-class runtime — retries, checkpointing, observability at scale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Vector store for cross-trip preference memory; relational store for transactions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FCM/APNs push, SMS &amp; voice gateways — closed-app reminder delivery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Amadeus/Travelport, Uber/Ola, IRCTC behind one adapter — real bookings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502920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4E635C"/>
                </a:solidFill>
                <a:latin typeface="Segoe UI"/>
              </a:rPr>
              <a:t>Adding these before validation would be infrastructure without a user.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APPENDIX A3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E1F1A"/>
                </a:solidFill>
                <a:latin typeface="Segoe UI"/>
              </a:rPr>
              <a:t>Challenges we actually hit (and what each taught us)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11201400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19072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8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Free-tier quota died mid-build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77639" y="1719072"/>
            <a:ext cx="7543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4E635C"/>
                </a:solidFill>
                <a:latin typeface="Segoe UI"/>
              </a:rPr>
              <a:t>The real limit was tokens-per-day, visible only in the 429 body. Built three-model per-agent failover; verified with the primary model fully exhausted.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201400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670048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8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One model 400’d on a nested schema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2670048"/>
            <a:ext cx="7543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4E635C"/>
                </a:solidFill>
                <a:latin typeface="Segoe UI"/>
              </a:rPr>
              <a:t>gpt-oss rejects a schema Llama accepts — took the Pilgrimage path down in production. Failover now covers 400/413/422/503, not just quota.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547872"/>
            <a:ext cx="11201400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621024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8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A few-shot example leaked into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3621024"/>
            <a:ext cx="7543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4E635C"/>
                </a:solidFill>
                <a:latin typeface="Segoe UI"/>
              </a:rPr>
              <a:t>The Booking prompt said “like Bengaluru → Gokarna…” and got no origin field — so Bengaluru appeared in everyone’s reminders. Fix: origin in the payload, no city named in any prompt. Verified from Guwahati.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498848"/>
            <a:ext cx="11201400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572000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8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Approvals survived price changes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4572000"/>
            <a:ext cx="7543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4E635C"/>
                </a:solidFill>
                <a:latin typeface="Segoe UI"/>
              </a:rPr>
              <a:t>You could approve ₹8,000 and confirm ₹14,000. Now any amount change revokes its approval — consent is to a number, not a line item.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449824"/>
            <a:ext cx="11201400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522976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8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Built features were invisible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5522976"/>
            <a:ext cx="7543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4E635C"/>
                </a:solidFill>
                <a:latin typeface="Segoe UI"/>
              </a:rPr>
              <a:t>Confirm, reminders, email all shipped — behind an unsignposted gate chain. A gate that hides what is behind it looks unbuilt. Fix: the four-step stepper on every plan.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APPENDIX A4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E1F1A"/>
                </a:solidFill>
                <a:latin typeface="Segoe UI"/>
              </a:rPr>
              <a:t>Testing two failure modes · ethics as shipped behaviour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553212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4453D"/>
                </a:solidFill>
                <a:latin typeface="Segoe UI"/>
              </a:rPr>
              <a:t>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51206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Two failure modes: software bugs AND AI failures (hallucination, silent bad money decisions).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Offline regression per agent — fixed input/output suites re-run before any prompt change.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Observability — every agent decision and handoff logged; the raw JSON log is on every trip page.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RAG grounding — places from map data, not model memory.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Human-in-the-loop mandatory above the spend threshold.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Moderated UAT with 5–8 real users before release.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645920"/>
            <a:ext cx="553212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7830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ETHICS — LIVE IN THE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8232" y="2148840"/>
            <a:ext cx="51206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Privacy: trips never leave the device — stated on the sign-in page.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No silent substitution: out-of-scope asks are named and explained.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Money: gates, revocation, code-computed arithmetic.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Reminders: opt-in, time-anchored, never engagement-tuned.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No dark patterns: no fake scarcity, no urgency styling, no forced sign-in before value.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Standing question at every review: could we defend this to a journalist?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APPENDIX A5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E1F1A"/>
                </a:solidFill>
                <a:latin typeface="Segoe UI"/>
              </a:rPr>
              <a:t>Prioritisation: three lenses had to agree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4E635C"/>
                </a:solidFill>
                <a:latin typeface="Segoe UI"/>
              </a:rPr>
              <a:t>RICE (reach · impact · confidence · effort) ranked every feature → MoSCoW translated it for planning → a Value-vs-Complexity quadrant sanity-checked both.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86000"/>
            <a:ext cx="112014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395728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 i="0">
                <a:solidFill>
                  <a:srgbClr val="0E1F1A"/>
                </a:solidFill>
                <a:latin typeface="Segoe UI"/>
              </a:rPr>
              <a:t>Rule: </a:t>
            </a:r>
            <a:r>
              <a:rPr sz="1250" b="0" i="0">
                <a:solidFill>
                  <a:srgbClr val="0E1F1A"/>
                </a:solidFill>
                <a:latin typeface="Segoe UI"/>
              </a:rPr>
              <a:t>every Quick Win went into the MVP, full stop. Everything scoring Strategic Bet, Fill-in or Money Pit was excluded by rule, not by discretion — that is what kept the MVP minimal instead of merely “smaller than the vision”.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 i="0">
                <a:solidFill>
                  <a:srgbClr val="0E1F1A"/>
                </a:solidFill>
                <a:latin typeface="Segoe UI"/>
              </a:rPr>
              <a:t>Example: </a:t>
            </a:r>
            <a:r>
              <a:rPr sz="1250" b="0" i="0">
                <a:solidFill>
                  <a:srgbClr val="0E1F1A"/>
                </a:solidFill>
                <a:latin typeface="Segoe UI"/>
              </a:rPr>
              <a:t>Notification reminders scored well on RICE — but for retention, not for the hypothesis. Deliberately pushed to Should-have, Sprint 6.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94760"/>
            <a:ext cx="11201400" cy="2103120"/>
          </a:xfrm>
          <a:prstGeom prst="roundRect">
            <a:avLst>
              <a:gd name="adj" fmla="val 8000"/>
            </a:avLst>
          </a:prstGeom>
          <a:solidFill>
            <a:srgbClr val="144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B52E"/>
                </a:solidFill>
                <a:latin typeface="Segoe UI"/>
              </a:rPr>
              <a:t>IF YOU ASK “WHAT WOULD YOU CUT NEXT TIME?”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9768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4EF"/>
                </a:solidFill>
                <a:latin typeface="Segoe UI"/>
              </a:rPr>
              <a:t>Nothing from the Must list — but Sprint 7 (traveller control) taught us the real lesson: a plan the traveller cannot change is a demo, not a product. We would plan for override from Sprint 1.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4EF"/>
                </a:solidFill>
                <a:latin typeface="Segoe UI"/>
              </a:rPr>
              <a:t>And we would instrument the funnel from day one — you cannot measure a launch retroactively.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