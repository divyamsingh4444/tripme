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Segoe UI"/>
              </a:rPr>
              <a:t>Trip</a:t>
            </a:r>
            <a:r>
              <a:rPr sz="6600" b="1" i="0">
                <a:solidFill>
                  <a:srgbClr val="FFB52E"/>
                </a:solidFill>
                <a:latin typeface="Segoe UI"/>
              </a:rPr>
              <a:t>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2514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700" b="1" i="0">
                <a:solidFill>
                  <a:srgbClr val="EEF4EF"/>
                </a:solidFill>
                <a:latin typeface="Segoe UI"/>
              </a:rPr>
              <a:t>One mood. One budget. One complete trip.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" y="3246120"/>
            <a:ext cx="8412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9DB3AC"/>
                </a:solidFill>
                <a:latin typeface="Segoe UI"/>
              </a:rPr>
              <a:t>Seven AI agents that plan it, argue about it in front of you, and are held to your budget in code — built, deployed, and live.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0392" y="4160520"/>
            <a:ext cx="2168956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AGENTS · 1 BACKWARD EDGE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83940" y="4160520"/>
            <a:ext cx="1269187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6 TRAVEL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416052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7 LANGUAGES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6556" y="4160520"/>
            <a:ext cx="1494129" cy="292608"/>
          </a:xfrm>
          <a:prstGeom prst="roundRect">
            <a:avLst>
              <a:gd name="adj" fmla="val 50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/>
          <a:lstStyle/>
          <a:p>
            <a:pPr algn="ctr"/>
            <a:r>
              <a:rPr sz="1050" b="1">
                <a:solidFill>
                  <a:srgbClr val="EEF4EF"/>
                </a:solidFill>
                <a:latin typeface="Segoe UI"/>
              </a:rPr>
              <a:t>₹0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92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EF4EF"/>
                </a:solidFill>
                <a:latin typeface="Segoe UI"/>
              </a:rPr>
              <a:t>Team DEBUGGERS — BITSoM · Product Management with Generative &amp; Agentic 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2578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DB3AC"/>
                </a:solidFill>
                <a:latin typeface="Segoe UI"/>
              </a:rPr>
              <a:t>Shiva K · Nusrat Sultana · Divyam Singh · Manish Dwivedi · Devyani Harpale · Prajwal D R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1417320"/>
            <a:ext cx="1920240" cy="1920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509760" y="3456432"/>
            <a:ext cx="2194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EF4EF"/>
                </a:solidFill>
                <a:latin typeface="Segoe UI"/>
              </a:rPr>
              <a:t>scan → live product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THE PROBLEM — EVIDENCED, NOT IMAGINED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300" b="1" i="0">
                <a:solidFill>
                  <a:srgbClr val="0E1F1A"/>
                </a:solidFill>
                <a:latin typeface="Segoe UI"/>
              </a:rPr>
              <a:t>Planning one trip means 6–8 apps that never talk to each other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099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Budget is a hope, not a rule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57400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Estimated before the trip, reconciled after it — never enforced during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715768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25496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Groups fail at agreement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72968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The hard part is not booking — it is getting five people to one plan.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831335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941063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Recommendations are black boxes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88536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No reasoning attached, so they cannot be interrogated or trusted.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946903"/>
            <a:ext cx="5577840" cy="9875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056631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50" b="1" i="0">
                <a:solidFill>
                  <a:srgbClr val="0E1F1A"/>
                </a:solidFill>
                <a:latin typeface="Segoe UI"/>
              </a:rPr>
              <a:t>Context is re-entered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404103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4E635C"/>
                </a:solidFill>
                <a:latin typeface="Segoe UI"/>
              </a:rPr>
              <a:t>4–6 hours across apps, typing the same dates and budget at every boundary.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600200"/>
            <a:ext cx="5303520" cy="237744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178308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B52E"/>
                </a:solidFill>
                <a:latin typeface="Segoe UI"/>
              </a:rPr>
              <a:t>EVIDENCE — 5 JTBD INTERVIEWS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2148840"/>
            <a:ext cx="48006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Every participant used multiple tools and re-entered the same context.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Expense tracking: the worst part — always done after the fact.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Group trips stalled at agreement, never at booking.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Nobody trusted a recommendation they could not question.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160520"/>
            <a:ext cx="530352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B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4315968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CORE HYPOTHESIS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63440"/>
            <a:ext cx="4800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A mood-first, single-app experience — visible reasoning, upfront budget certainty, trade-offs arbitrated in front of the user — beats today’s fragmented process.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PROPOSED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Seven agents. Typed handoffs. One backward 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Mood &amp; Intent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767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2598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7073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4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Budget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9379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7210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Itinerary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685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9516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Booking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91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1822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FFB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2972" y="1463040"/>
            <a:ext cx="320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4E635C"/>
                </a:solidFill>
                <a:latin typeface="Segoe U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0" y="1371600"/>
            <a:ext cx="1481328" cy="566928"/>
          </a:xfrm>
          <a:prstGeom prst="roundRect">
            <a:avLst>
              <a:gd name="adj" fmla="val 8000"/>
            </a:avLst>
          </a:prstGeom>
          <a:solidFill>
            <a:srgbClr val="0E33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1">
                <a:solidFill>
                  <a:srgbClr val="FFFFFF"/>
                </a:solidFill>
                <a:latin typeface="Segoe UI"/>
              </a:rPr>
              <a:t>Notification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057400"/>
            <a:ext cx="11155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↩  the backward edge — </a:t>
            </a:r>
            <a:r>
              <a:rPr sz="1200" b="0" i="0">
                <a:solidFill>
                  <a:srgbClr val="0E1F1A"/>
                </a:solidFill>
                <a:latin typeface="Segoe UI"/>
              </a:rPr>
              <a:t>the Referee can reject another agent’s work and send it BACK to be re-done. Agents that negotiate — not a sequence of prompts.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487168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" y="2560320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Mood &amp; Intent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551176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Turns a feeling + budget into a structured brief — never invents a preference the traveller didn’t express.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487168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2560320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Discovery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28432" y="2551176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Picks the destination with line-by-line evidence per non-negotiable; India-only scope enforced in the pipeline.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392424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3465576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Budget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3456432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Allocates every rupee across transport, stay, food, activities and buffer — before anything is booked.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99632" y="3392424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65576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Itinerary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28432" y="3456432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Builds the day-by-day plan from real, map-resolved places — open data, not model memory.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297680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088" y="4370832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Booking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361688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Prepares simulated, gated bookings with real deep links; spend above threshold needs explicit approval.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99632" y="4297680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4370832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Referee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2" y="4361688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Audits agents against each other, states conflicts in rupees; one Advocate per traveller in group mode.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202936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276088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Notification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31720" y="5266944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Builds opt-in, time-anchored reminders — only from the bookings the traveller actually accepted.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5202936"/>
            <a:ext cx="5532120" cy="804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B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5276088"/>
            <a:ext cx="1572768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The design rules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28432" y="5266944"/>
            <a:ext cx="3584448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LLM for judgment, code for money — a model never touches arithmetic. Six travel paths, one architecture. The traveller gets the last word.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IMPLEMENTATION — HOW WE BUILT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900" b="1" i="0">
                <a:solidFill>
                  <a:srgbClr val="0E1F1A"/>
                </a:solidFill>
                <a:latin typeface="Segoe UI"/>
              </a:rPr>
              <a:t>An agile process, a lean stack, AI only where it earns its place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2048256"/>
            <a:ext cx="3273552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Agile → Scrum, run in Jira: a 61-story backlog groomed into six sprints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Sequenced by data dependency — Booking cannot exist before Itinerary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QA stories in every sprint, not batched at the end; moderated UAT with real users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Sprint 7 added on evidence: a plan you cannot change is a demo, not a product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A continuously maintained decision log — 27 entries; no call re-litigated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17136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TOOLS &amp; FRAMEWORKS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17136" y="2048256"/>
            <a:ext cx="3273552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Next.js App Router + TypeScript — UI and server routes in one deployable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Tailwind CSS v4 on a fixed design system — pine, marigold, Plex Mono for money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Vercel — push-to-deploy on every commit to main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Auth.js + Google OAuth + a password-less test user; the gate sits at commitment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OpenStreetMap + Nominatim + Wikipedia — real places, licensed photos, keyless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Trips in browser storage — a privacy position, not a missing database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1554480"/>
            <a:ext cx="3648456" cy="411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0184" y="1691640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AI &amp;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30184" y="2048256"/>
            <a:ext cx="3273552" cy="3520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Three Groq-hosted models, routed per agent by job: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• gpt-oss-120b — reasoning: Discovery, Itinerary, Budget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• qwen3.8-27b — arbitration: Referee, consensus, intent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• gpt-oss-20b — structural: Booking, Advocates, translation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Typed JSON-schema handoffs — every output validated before it enters trip-state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Per-agent failover chains across all three — quota, schema errors, even model retirement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050" b="0" i="0">
                <a:solidFill>
                  <a:srgbClr val="0E1F1A"/>
                </a:solidFill>
                <a:latin typeface="Segoe UI"/>
              </a:rPr>
              <a:t>Deterministic money layer in code; translation runs after generation completes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806440"/>
            <a:ext cx="11201400" cy="530352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5888736"/>
            <a:ext cx="107899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1" i="0">
                <a:solidFill>
                  <a:srgbClr val="FFB52E"/>
                </a:solidFill>
                <a:latin typeface="Segoe UI"/>
              </a:rPr>
              <a:t>Total infrastructure cost: ₹0 </a:t>
            </a:r>
            <a:r>
              <a:rPr sz="1200" b="0" i="0">
                <a:solidFill>
                  <a:srgbClr val="EEF4EF"/>
                </a:solidFill>
                <a:latin typeface="Segoe UI"/>
              </a:rPr>
              <a:t>— every dependency inside a free tier. The constraint drove the engineering: three-model failover, identical-brief caching, zero-quota sample trips.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WHAT SHIPPED — AND WHAT WE REFUSE TO FAKE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A complete MVP that tells the truth about itself</a:t>
            </a:r>
          </a:p>
        </p:txBody>
      </p:sp>
      <p:pic>
        <p:nvPicPr>
          <p:cNvPr id="4" name="Picture 3" descr="01-landing-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5" name="Picture 4" descr="12-trip-book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pic>
        <p:nvPicPr>
          <p:cNvPr id="6" name="Picture 5" descr="33-hindi-comple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29016" y="1572768"/>
            <a:ext cx="3657600" cy="2286000"/>
          </a:xfrm>
          <a:prstGeom prst="rect">
            <a:avLst/>
          </a:prstGeom>
          <a:ln w="12700">
            <a:solidFill>
              <a:srgbClr val="D8DFDB"/>
            </a:solidFill>
          </a:ln>
          <a:effectLst/>
        </p:spPr>
      </p:pic>
      <p:sp>
        <p:nvSpPr>
          <p:cNvPr id="7" name="TextBox 6"/>
          <p:cNvSpPr txBox="1"/>
          <p:nvPr/>
        </p:nvSpPr>
        <p:spPr>
          <a:xfrm>
            <a:off x="502920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Mood-first — no destination field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15968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Approval gates · DEMO labels on every booking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29016" y="3913632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4E635C"/>
                </a:solidFill>
                <a:latin typeface="Segoe UI"/>
              </a:rPr>
              <a:t>Agent output translated — figures untouched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18 MVP features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six paths · arbitration · override with re-pricing · reminders · settle-up · expense report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434340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41655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Honesty as a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4192" y="441655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bookings labelled simulated · prices marked “est.” · India-only stated and enforced in the pipeline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₹0 infrastructure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three Groq models with per-agent failover · OpenStreetMap &amp; Wikipedia · Vercel — all free tier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5349240"/>
            <a:ext cx="553212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5422392"/>
            <a:ext cx="1920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350" b="1" i="0">
                <a:solidFill>
                  <a:srgbClr val="0E1F1A"/>
                </a:solidFill>
                <a:latin typeface="Segoe UI"/>
              </a:rPr>
              <a:t>Privacy position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5422392"/>
            <a:ext cx="32461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4E635C"/>
                </a:solidFill>
                <a:latin typeface="Segoe UI"/>
              </a:rPr>
              <a:t>trips never leave the browser; an account stores only name, email, picture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KEY OUTCOMES &amp; IMPACT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E1F1A"/>
                </a:solidFill>
                <a:latin typeface="Segoe UI"/>
              </a:rPr>
              <a:t>What TripME delivers — today, and measured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C58200"/>
                </a:solidFill>
                <a:latin typeface="Segoe UI"/>
              </a:rPr>
              <a:t>OUTCOMES — SHIPPED AND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048256"/>
            <a:ext cx="5120640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Complete MVP live</a:t>
            </a:r>
            <a:r>
              <a:rPr sz="1200" b="0" i="0">
                <a:solidFill>
                  <a:srgbClr val="0E1F1A"/>
                </a:solidFill>
                <a:latin typeface="Segoe UI"/>
              </a:rPr>
              <a:t> — 18 features, all 6 travel paths, 7 languages, on a real URL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4–6 hours → under 60 seconds</a:t>
            </a:r>
            <a:r>
              <a:rPr sz="1200" b="0" i="0">
                <a:solidFill>
                  <a:srgbClr val="0E1F1A"/>
                </a:solidFill>
                <a:latin typeface="Segoe UI"/>
              </a:rPr>
              <a:t> of agent time — measured and printed on every plan (34–58s)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Arbitration is real</a:t>
            </a:r>
            <a:r>
              <a:rPr sz="1200" b="0" i="0">
                <a:solidFill>
                  <a:srgbClr val="0E1F1A"/>
                </a:solidFill>
                <a:latin typeface="Segoe UI"/>
              </a:rPr>
              <a:t> — the Referee rejected two agents’ work on a live run and re-planned it (9 calls, 58s)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0E1F1A"/>
                </a:solidFill>
                <a:latin typeface="Segoe UI"/>
              </a:rPr>
              <a:t>Survived a provider outage</a:t>
            </a:r>
            <a:r>
              <a:rPr sz="1200" b="0" i="0">
                <a:solidFill>
                  <a:srgbClr val="0E1F1A"/>
                </a:solidFill>
                <a:latin typeface="Segoe UI"/>
              </a:rPr>
              <a:t> — both original models were retired by Groq; failover absorbed 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5532120" cy="301752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6916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B52E"/>
                </a:solidFill>
                <a:latin typeface="Segoe UI"/>
              </a:rPr>
              <a:t>IMPACT — WHAT CHANGES FOR THE TRAVELLER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048256"/>
            <a:ext cx="5120640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One brief replaces 6–8 apps</a:t>
            </a:r>
            <a:r>
              <a:rPr sz="1200" b="0" i="0">
                <a:solidFill>
                  <a:srgbClr val="EEF4EF"/>
                </a:solidFill>
                <a:latin typeface="Segoe UI"/>
              </a:rPr>
              <a:t> — context entered once, carried end to end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Budget enforced during planning</a:t>
            </a:r>
            <a:r>
              <a:rPr sz="1200" b="0" i="0">
                <a:solidFill>
                  <a:srgbClr val="EEF4EF"/>
                </a:solidFill>
                <a:latin typeface="Segoe UI"/>
              </a:rPr>
              <a:t> — not reconciled after the money is gone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Groups reach a defensible plan</a:t>
            </a:r>
            <a:r>
              <a:rPr sz="1200" b="0" i="0">
                <a:solidFill>
                  <a:srgbClr val="EEF4EF"/>
                </a:solidFill>
                <a:latin typeface="Segoe UI"/>
              </a:rPr>
              <a:t> — a published concession matrix; nobody concedes twice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</a:rPr>
              <a:t>Honesty as shipped UI</a:t>
            </a:r>
            <a:r>
              <a:rPr sz="1200" b="0" i="0">
                <a:solidFill>
                  <a:srgbClr val="EEF4EF"/>
                </a:solidFill>
                <a:latin typeface="Segoe UI"/>
              </a:rPr>
              <a:t> — simulated labelled, prices marked est., scope stated up front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36592"/>
            <a:ext cx="1120140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837176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4453D"/>
                </a:solidFill>
                <a:latin typeface="Segoe UI"/>
              </a:rPr>
              <a:t>Validation gates for the beta: </a:t>
            </a:r>
            <a:r>
              <a:rPr sz="1150" b="0" i="0">
                <a:solidFill>
                  <a:srgbClr val="4E635C"/>
                </a:solidFill>
                <a:latin typeface="Segoe UI"/>
              </a:rPr>
              <a:t>&gt;70% plan completion · &lt;60s median agent time · &gt;50% can explain the Referee · &gt;30% override something · &gt;25% confirm · &gt;20% return in 30 days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559552"/>
            <a:ext cx="11201400" cy="768096"/>
          </a:xfrm>
          <a:prstGeom prst="roundRect">
            <a:avLst>
              <a:gd name="adj" fmla="val 8000"/>
            </a:avLst>
          </a:prstGeom>
          <a:solidFill>
            <a:srgbClr val="0E1F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678424"/>
            <a:ext cx="7772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EF4EF"/>
                </a:solidFill>
                <a:latin typeface="Segoe UI"/>
              </a:rPr>
              <a:t>Try it now — </a:t>
            </a:r>
            <a:r>
              <a:rPr sz="1500" b="1" i="0">
                <a:solidFill>
                  <a:srgbClr val="FFB52E"/>
                </a:solidFill>
                <a:latin typeface="Segoe UI"/>
              </a:rPr>
              <a:t>tripme-khaki.vercel.app</a:t>
            </a:r>
            <a:r>
              <a:rPr sz="1100" b="0" i="0">
                <a:solidFill>
                  <a:srgbClr val="9DB3AC"/>
                </a:solidFill>
                <a:latin typeface="Segoe UI"/>
              </a:rPr>
              <a:t>   ·   wireframes: /wireframes.html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5687568"/>
            <a:ext cx="30175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250" b="1" i="0">
                <a:solidFill>
                  <a:srgbClr val="EEF4EF"/>
                </a:solidFill>
                <a:latin typeface="Segoe UI"/>
              </a:rPr>
              <a:t>One mood. One budget.
One complete trip.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TripME · Team DEBUGGERS · tripme-khaki.vercel.app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4E635C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3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000" b="1" i="0">
                <a:solidFill>
                  <a:srgbClr val="EEF4EF"/>
                </a:solidFill>
                <a:latin typeface="Segoe UI"/>
              </a:rPr>
              <a:t>Appendix — for Q&amp;A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370332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DB3AC"/>
                </a:solidFill>
                <a:latin typeface="Segoe UI"/>
              </a:rPr>
              <a:t>Architecture &amp; PEAS · tech stack · testing · challenges we actually hit · ethics · prioritisation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Agent architecture — formally specified (PEAS)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Mood &amp; Intent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34640" y="172821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172821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accuracy of captured intent — never invents a preference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29514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7743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goal-based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60" y="237743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match relevance; India-only; must explain any substitution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944368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026663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026663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spend &amp; split correctness — arithmetic in code, never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93591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Itinerary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3675887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675887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coherence &amp; pacing fit; places from open map data, not memory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4242816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Booking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34640" y="4325112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action, gated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325112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simulated bookings; every item above threshold needs explicit approval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892040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Referee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40" y="4974336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utility + arbitration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4974336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conflicts in rupees; fairness floor; can send work backwards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54126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Notification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623559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C58200"/>
                </a:solidFill>
                <a:latin typeface="Segoe UI"/>
              </a:rPr>
              <a:t>model-based reflex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37760" y="5623559"/>
            <a:ext cx="65836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4E635C"/>
                </a:solidFill>
                <a:latin typeface="Segoe UI"/>
              </a:rPr>
              <a:t>time-anchored reminders; opt-in per trip, off by default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30936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Design rule: as much autonomy as the stakes of the decision can safely support — and no more.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Tech: what we built with vs the funded version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ACTUALLY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Next.js App Router + TypeScript on Vercel — push-to-deploy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Groq: llama-3.3-70b · gpt-oss-120b · llama-3.1-8b — per-agent failover chains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Failover on 429 / 400 / 413 / 422 / 503 — quota becomes a slowdown, not an outage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OpenStreetMap + Nominatim + Wikipedia — real, keyless, licensed places &amp; photos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Auth.js + Google OAuth + password-less demo user · trips stay in the browser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Total infrastructure cost: ₹0 — every dependency inside a free tier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FUNDED VERSION — AND WHY NOT NOW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LangGraph-class runtime — retries, checkpointing, observability at scale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Vector store for cross-trip preference memory; relational store for transactions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FCM/APNs push, SMS &amp; voice gateways — closed-app reminder delivery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0" i="0">
                <a:solidFill>
                  <a:srgbClr val="0E1F1A"/>
                </a:solidFill>
                <a:latin typeface="Segoe UI"/>
              </a:rPr>
              <a:t>Amadeus/Travelport, Uber/Ola, IRCTC behind one adapter — real bookings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28232" y="5029200"/>
            <a:ext cx="51206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4E635C"/>
                </a:solidFill>
                <a:latin typeface="Segoe UI"/>
              </a:rPr>
              <a:t>Adding these before validation would be infrastructure without a user.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Challenges we actually hit (and what each taught us)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19072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Free-tier quota died mid-build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77639" y="1719072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real limit was tokens-per-day, visible only in the 429 body. Built three-model per-agent failover; verified with the primary model fully exhausted.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96896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670048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One model 400’d on a nested schema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670048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gpt-oss rejects a schema Llama accepts — took the Pilgrimage path down in production. Failover now covers 400/413/422/503, not just quota.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547872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621024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 few-shot example leaked into output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3621024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The Booking prompt said “like Bengaluru → Gokarna…” and got no origin field — so Bengaluru appeared in everyone’s reminders. Fix: origin in the payload, no city named in any prompt. Verified from Guwahati.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498848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572000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Approvals survived price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4572000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You could approve ₹8,000 and confirm ₹14,000. Now any amount change revokes its approval — consent is to a number, not a line item.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449824"/>
            <a:ext cx="11201400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22976"/>
            <a:ext cx="3108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8000"/>
              </a:lnSpc>
              <a:spcAft>
                <a:spcPts val="400"/>
              </a:spcAft>
            </a:pPr>
            <a:r>
              <a:rPr sz="1300" b="1" i="0">
                <a:solidFill>
                  <a:srgbClr val="0E1F1A"/>
                </a:solidFill>
                <a:latin typeface="Segoe UI"/>
              </a:rPr>
              <a:t>Built features were invisible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5522976"/>
            <a:ext cx="7543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1100" b="0" i="0">
                <a:solidFill>
                  <a:srgbClr val="4E635C"/>
                </a:solidFill>
                <a:latin typeface="Segoe UI"/>
              </a:rPr>
              <a:t>Confirm, reminders, email all shipped — behind an unsignposted gate chain. A gate that hides what is behind it looks unbuilt. Fix: the four-step stepper on every plan.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Testing two failure modes · ethics as shipped behaviour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14453D"/>
                </a:solidFill>
                <a:latin typeface="Segoe UI"/>
              </a:rPr>
              <a:t>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Two failure modes: software bugs AND AI failures (hallucination, silent bad money decisions).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Offline regression per agent — fixed input/output suites re-run before any prompt change.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Observability — every agent decision and handoff logged; the raw JSON log is on every trip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RAG grounding — places from map data, not model 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Human-in-the-loop mandatory above the spend threshold.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Moderated UAT with 5–8 real users before release.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645920"/>
            <a:ext cx="5532120" cy="4297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7830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ETHICS — LIVE IN THE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2148840"/>
            <a:ext cx="51206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Privacy: trips never leave the device — stated on the sign-in page.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silent substitution: out-of-scope asks are named and explained.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Money: gates, revocation, code-computed arithmetic.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Reminders: opt-in, time-anchored, never engagement-tuned.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No dark patterns: no fake scarcity, no urgency styling, no forced sign-in before value.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0E1F1A"/>
                </a:solidFill>
                <a:latin typeface="Segoe UI"/>
              </a:rPr>
              <a:t>Standing question at every review: could we defend this to a journalist?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C58200"/>
                </a:solidFill>
                <a:latin typeface="Segoe UI"/>
              </a:rPr>
              <a:t>APPENDIX A5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58368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E1F1A"/>
                </a:solidFill>
                <a:latin typeface="Segoe UI"/>
              </a:rPr>
              <a:t>Prioritisation: three lenses had to agree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60020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4E635C"/>
                </a:solidFill>
                <a:latin typeface="Segoe UI"/>
              </a:rPr>
              <a:t>RICE (reach · impact · confidence · effort) ranked every feature → MoSCoW translated it for planning → a Value-vs-Complexity quadrant sanity-checked both.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286000"/>
            <a:ext cx="112014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95728"/>
            <a:ext cx="106984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Rule: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every Quick Win went into the MVP, full stop. Everything scoring Strategic Bet, Fill-in or Money Pit was excluded by rule, not by discretion — that is what kept the MVP minimal instead of merely “smaller than the vision”.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 i="0">
                <a:solidFill>
                  <a:srgbClr val="0E1F1A"/>
                </a:solidFill>
                <a:latin typeface="Segoe UI"/>
              </a:rPr>
              <a:t>Example: </a:t>
            </a:r>
            <a:r>
              <a:rPr sz="1250" b="0" i="0">
                <a:solidFill>
                  <a:srgbClr val="0E1F1A"/>
                </a:solidFill>
                <a:latin typeface="Segoe UI"/>
              </a:rPr>
              <a:t>Notification reminders scored well on RICE — but for retention, not for the hypothesis. Deliberately pushed to Should-have, Sprint 6.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94760"/>
            <a:ext cx="11201400" cy="2103120"/>
          </a:xfrm>
          <a:prstGeom prst="roundRect">
            <a:avLst>
              <a:gd name="adj" fmla="val 8000"/>
            </a:avLst>
          </a:prstGeom>
          <a:solidFill>
            <a:srgbClr val="1445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9319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B52E"/>
                </a:solidFill>
                <a:latin typeface="Segoe UI"/>
              </a:rPr>
              <a:t>IF YOU ASK “WHAT WOULD YOU CUT NEXT TIME?”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Nothing from the Must list — but Sprint 7 (traveller control) taught us the real lesson: a plan the traveller cannot change is a demo, not a product. We would plan for override from Sprint 1.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EF4EF"/>
                </a:solidFill>
                <a:latin typeface="Segoe UI"/>
              </a:rPr>
              <a:t>And we would instrument the funnel from day one — you cannot measure a launch retroactively.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